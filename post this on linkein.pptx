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57" r:id="rId4"/>
    <p:sldId id="272" r:id="rId5"/>
    <p:sldId id="271" r:id="rId6"/>
    <p:sldId id="258" r:id="rId7"/>
    <p:sldId id="259" r:id="rId8"/>
    <p:sldId id="273" r:id="rId9"/>
    <p:sldId id="260" r:id="rId10"/>
    <p:sldId id="274" r:id="rId11"/>
    <p:sldId id="261" r:id="rId12"/>
    <p:sldId id="262" r:id="rId13"/>
    <p:sldId id="275" r:id="rId14"/>
    <p:sldId id="263" r:id="rId15"/>
    <p:sldId id="277" r:id="rId16"/>
    <p:sldId id="264" r:id="rId17"/>
    <p:sldId id="278" r:id="rId18"/>
    <p:sldId id="265" r:id="rId19"/>
    <p:sldId id="276" r:id="rId20"/>
    <p:sldId id="267" r:id="rId21"/>
    <p:sldId id="268" r:id="rId22"/>
    <p:sldId id="26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ADD8"/>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5C33E-FB41-B2B0-81FA-6FB4B2AF7E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103573C-CC57-6FFC-0243-967C596A42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981DE04-6A7C-A566-CFF7-2FFBF55CFD56}"/>
              </a:ext>
            </a:extLst>
          </p:cNvPr>
          <p:cNvSpPr>
            <a:spLocks noGrp="1"/>
          </p:cNvSpPr>
          <p:nvPr>
            <p:ph type="dt" sz="half" idx="10"/>
          </p:nvPr>
        </p:nvSpPr>
        <p:spPr/>
        <p:txBody>
          <a:bodyPr/>
          <a:lstStyle/>
          <a:p>
            <a:fld id="{8CA8C473-BE93-4CDE-9347-E8FA9D8B3A3B}" type="datetimeFigureOut">
              <a:rPr lang="en-IN" smtClean="0"/>
              <a:t>24-04-2026</a:t>
            </a:fld>
            <a:endParaRPr lang="en-IN"/>
          </a:p>
        </p:txBody>
      </p:sp>
      <p:sp>
        <p:nvSpPr>
          <p:cNvPr id="5" name="Footer Placeholder 4">
            <a:extLst>
              <a:ext uri="{FF2B5EF4-FFF2-40B4-BE49-F238E27FC236}">
                <a16:creationId xmlns:a16="http://schemas.microsoft.com/office/drawing/2014/main" id="{0842E34E-EF26-6253-851E-00E7664A7C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7DE16A-C6C2-6167-87FC-9C175B7F3339}"/>
              </a:ext>
            </a:extLst>
          </p:cNvPr>
          <p:cNvSpPr>
            <a:spLocks noGrp="1"/>
          </p:cNvSpPr>
          <p:nvPr>
            <p:ph type="sldNum" sz="quarter" idx="12"/>
          </p:nvPr>
        </p:nvSpPr>
        <p:spPr/>
        <p:txBody>
          <a:bodyPr/>
          <a:lstStyle/>
          <a:p>
            <a:fld id="{65D37B8E-96DA-4453-92EF-00C39ACAC795}" type="slidenum">
              <a:rPr lang="en-IN" smtClean="0"/>
              <a:t>‹#›</a:t>
            </a:fld>
            <a:endParaRPr lang="en-IN"/>
          </a:p>
        </p:txBody>
      </p:sp>
    </p:spTree>
    <p:extLst>
      <p:ext uri="{BB962C8B-B14F-4D97-AF65-F5344CB8AC3E}">
        <p14:creationId xmlns:p14="http://schemas.microsoft.com/office/powerpoint/2010/main" val="573873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49D14-501D-C7BD-F7C2-163EB055880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99256A-809E-65FF-B626-CD0A328946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5AF5B4-2C85-DBED-6D53-A2BB4DC98F68}"/>
              </a:ext>
            </a:extLst>
          </p:cNvPr>
          <p:cNvSpPr>
            <a:spLocks noGrp="1"/>
          </p:cNvSpPr>
          <p:nvPr>
            <p:ph type="dt" sz="half" idx="10"/>
          </p:nvPr>
        </p:nvSpPr>
        <p:spPr/>
        <p:txBody>
          <a:bodyPr/>
          <a:lstStyle/>
          <a:p>
            <a:fld id="{8CA8C473-BE93-4CDE-9347-E8FA9D8B3A3B}" type="datetimeFigureOut">
              <a:rPr lang="en-IN" smtClean="0"/>
              <a:t>24-04-2026</a:t>
            </a:fld>
            <a:endParaRPr lang="en-IN"/>
          </a:p>
        </p:txBody>
      </p:sp>
      <p:sp>
        <p:nvSpPr>
          <p:cNvPr id="5" name="Footer Placeholder 4">
            <a:extLst>
              <a:ext uri="{FF2B5EF4-FFF2-40B4-BE49-F238E27FC236}">
                <a16:creationId xmlns:a16="http://schemas.microsoft.com/office/drawing/2014/main" id="{501573E0-50D8-9A20-949D-84C0D5C058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62E831-2267-2F2A-24F3-66DD26D13C98}"/>
              </a:ext>
            </a:extLst>
          </p:cNvPr>
          <p:cNvSpPr>
            <a:spLocks noGrp="1"/>
          </p:cNvSpPr>
          <p:nvPr>
            <p:ph type="sldNum" sz="quarter" idx="12"/>
          </p:nvPr>
        </p:nvSpPr>
        <p:spPr/>
        <p:txBody>
          <a:bodyPr/>
          <a:lstStyle/>
          <a:p>
            <a:fld id="{65D37B8E-96DA-4453-92EF-00C39ACAC795}" type="slidenum">
              <a:rPr lang="en-IN" smtClean="0"/>
              <a:t>‹#›</a:t>
            </a:fld>
            <a:endParaRPr lang="en-IN"/>
          </a:p>
        </p:txBody>
      </p:sp>
    </p:spTree>
    <p:extLst>
      <p:ext uri="{BB962C8B-B14F-4D97-AF65-F5344CB8AC3E}">
        <p14:creationId xmlns:p14="http://schemas.microsoft.com/office/powerpoint/2010/main" val="582747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EC99A-794C-295E-1BA0-F06CF4AE5A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A347391-3E3A-4976-2552-482D921221A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E9DA532-A9F4-0F47-C834-94DE9A816E4C}"/>
              </a:ext>
            </a:extLst>
          </p:cNvPr>
          <p:cNvSpPr>
            <a:spLocks noGrp="1"/>
          </p:cNvSpPr>
          <p:nvPr>
            <p:ph type="dt" sz="half" idx="10"/>
          </p:nvPr>
        </p:nvSpPr>
        <p:spPr/>
        <p:txBody>
          <a:bodyPr/>
          <a:lstStyle/>
          <a:p>
            <a:fld id="{8CA8C473-BE93-4CDE-9347-E8FA9D8B3A3B}" type="datetimeFigureOut">
              <a:rPr lang="en-IN" smtClean="0"/>
              <a:t>24-04-2026</a:t>
            </a:fld>
            <a:endParaRPr lang="en-IN"/>
          </a:p>
        </p:txBody>
      </p:sp>
      <p:sp>
        <p:nvSpPr>
          <p:cNvPr id="5" name="Footer Placeholder 4">
            <a:extLst>
              <a:ext uri="{FF2B5EF4-FFF2-40B4-BE49-F238E27FC236}">
                <a16:creationId xmlns:a16="http://schemas.microsoft.com/office/drawing/2014/main" id="{1A9737A8-BF63-F7EE-5BC7-2D67AF4B0E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677064-2093-2436-9B6D-84DD8946B865}"/>
              </a:ext>
            </a:extLst>
          </p:cNvPr>
          <p:cNvSpPr>
            <a:spLocks noGrp="1"/>
          </p:cNvSpPr>
          <p:nvPr>
            <p:ph type="sldNum" sz="quarter" idx="12"/>
          </p:nvPr>
        </p:nvSpPr>
        <p:spPr/>
        <p:txBody>
          <a:bodyPr/>
          <a:lstStyle/>
          <a:p>
            <a:fld id="{65D37B8E-96DA-4453-92EF-00C39ACAC795}" type="slidenum">
              <a:rPr lang="en-IN" smtClean="0"/>
              <a:t>‹#›</a:t>
            </a:fld>
            <a:endParaRPr lang="en-IN"/>
          </a:p>
        </p:txBody>
      </p:sp>
    </p:spTree>
    <p:extLst>
      <p:ext uri="{BB962C8B-B14F-4D97-AF65-F5344CB8AC3E}">
        <p14:creationId xmlns:p14="http://schemas.microsoft.com/office/powerpoint/2010/main" val="38666049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60597-71A5-1F8F-1468-6993AB834CC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3E0BB1B-BF97-6758-BDD4-47837B3EC9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D477164-B2E1-6978-9234-02F6F18200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A2A5769-4763-C649-79BC-28F3DC2C3994}"/>
              </a:ext>
            </a:extLst>
          </p:cNvPr>
          <p:cNvSpPr>
            <a:spLocks noGrp="1"/>
          </p:cNvSpPr>
          <p:nvPr>
            <p:ph type="dt" sz="half" idx="10"/>
          </p:nvPr>
        </p:nvSpPr>
        <p:spPr/>
        <p:txBody>
          <a:bodyPr/>
          <a:lstStyle/>
          <a:p>
            <a:fld id="{8CA8C473-BE93-4CDE-9347-E8FA9D8B3A3B}" type="datetimeFigureOut">
              <a:rPr lang="en-IN" smtClean="0"/>
              <a:t>24-04-2026</a:t>
            </a:fld>
            <a:endParaRPr lang="en-IN"/>
          </a:p>
        </p:txBody>
      </p:sp>
      <p:sp>
        <p:nvSpPr>
          <p:cNvPr id="6" name="Footer Placeholder 5">
            <a:extLst>
              <a:ext uri="{FF2B5EF4-FFF2-40B4-BE49-F238E27FC236}">
                <a16:creationId xmlns:a16="http://schemas.microsoft.com/office/drawing/2014/main" id="{64612591-2EE5-CA0F-6B89-EAAD46FCB6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9D7359-5B94-FBB9-47EF-8AA65E0B1781}"/>
              </a:ext>
            </a:extLst>
          </p:cNvPr>
          <p:cNvSpPr>
            <a:spLocks noGrp="1"/>
          </p:cNvSpPr>
          <p:nvPr>
            <p:ph type="sldNum" sz="quarter" idx="12"/>
          </p:nvPr>
        </p:nvSpPr>
        <p:spPr/>
        <p:txBody>
          <a:bodyPr/>
          <a:lstStyle/>
          <a:p>
            <a:fld id="{65D37B8E-96DA-4453-92EF-00C39ACAC795}" type="slidenum">
              <a:rPr lang="en-IN" smtClean="0"/>
              <a:t>‹#›</a:t>
            </a:fld>
            <a:endParaRPr lang="en-IN"/>
          </a:p>
        </p:txBody>
      </p:sp>
    </p:spTree>
    <p:extLst>
      <p:ext uri="{BB962C8B-B14F-4D97-AF65-F5344CB8AC3E}">
        <p14:creationId xmlns:p14="http://schemas.microsoft.com/office/powerpoint/2010/main" val="2140021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E06E1-7E7B-30B8-F438-F031626F6B9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B657DBA-DCDB-C559-87EE-1F2D01DF8C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83F4D9-C200-7023-9496-DA527CC323D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F8652CA-C4B6-1F32-17CE-54EA8492C7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15B7D4-E6C4-026E-6A4B-3E381D484D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C8C8D29-F3D6-D121-A4BA-DC94012F6B87}"/>
              </a:ext>
            </a:extLst>
          </p:cNvPr>
          <p:cNvSpPr>
            <a:spLocks noGrp="1"/>
          </p:cNvSpPr>
          <p:nvPr>
            <p:ph type="dt" sz="half" idx="10"/>
          </p:nvPr>
        </p:nvSpPr>
        <p:spPr/>
        <p:txBody>
          <a:bodyPr/>
          <a:lstStyle/>
          <a:p>
            <a:fld id="{8CA8C473-BE93-4CDE-9347-E8FA9D8B3A3B}" type="datetimeFigureOut">
              <a:rPr lang="en-IN" smtClean="0"/>
              <a:t>24-04-2026</a:t>
            </a:fld>
            <a:endParaRPr lang="en-IN"/>
          </a:p>
        </p:txBody>
      </p:sp>
      <p:sp>
        <p:nvSpPr>
          <p:cNvPr id="8" name="Footer Placeholder 7">
            <a:extLst>
              <a:ext uri="{FF2B5EF4-FFF2-40B4-BE49-F238E27FC236}">
                <a16:creationId xmlns:a16="http://schemas.microsoft.com/office/drawing/2014/main" id="{550E2D2C-0650-421E-A613-F0C0FD16A1F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8E2AB64-91E0-A2AE-DEBF-010238917E64}"/>
              </a:ext>
            </a:extLst>
          </p:cNvPr>
          <p:cNvSpPr>
            <a:spLocks noGrp="1"/>
          </p:cNvSpPr>
          <p:nvPr>
            <p:ph type="sldNum" sz="quarter" idx="12"/>
          </p:nvPr>
        </p:nvSpPr>
        <p:spPr/>
        <p:txBody>
          <a:bodyPr/>
          <a:lstStyle/>
          <a:p>
            <a:fld id="{65D37B8E-96DA-4453-92EF-00C39ACAC795}" type="slidenum">
              <a:rPr lang="en-IN" smtClean="0"/>
              <a:t>‹#›</a:t>
            </a:fld>
            <a:endParaRPr lang="en-IN"/>
          </a:p>
        </p:txBody>
      </p:sp>
    </p:spTree>
    <p:extLst>
      <p:ext uri="{BB962C8B-B14F-4D97-AF65-F5344CB8AC3E}">
        <p14:creationId xmlns:p14="http://schemas.microsoft.com/office/powerpoint/2010/main" val="37546193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D7758-09D3-1D6E-46A7-68CFA9B52B1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B2A3BDF-4222-6BB8-5E21-7634AC7611D9}"/>
              </a:ext>
            </a:extLst>
          </p:cNvPr>
          <p:cNvSpPr>
            <a:spLocks noGrp="1"/>
          </p:cNvSpPr>
          <p:nvPr>
            <p:ph type="dt" sz="half" idx="10"/>
          </p:nvPr>
        </p:nvSpPr>
        <p:spPr/>
        <p:txBody>
          <a:bodyPr/>
          <a:lstStyle/>
          <a:p>
            <a:fld id="{8CA8C473-BE93-4CDE-9347-E8FA9D8B3A3B}" type="datetimeFigureOut">
              <a:rPr lang="en-IN" smtClean="0"/>
              <a:t>24-04-2026</a:t>
            </a:fld>
            <a:endParaRPr lang="en-IN"/>
          </a:p>
        </p:txBody>
      </p:sp>
      <p:sp>
        <p:nvSpPr>
          <p:cNvPr id="4" name="Footer Placeholder 3">
            <a:extLst>
              <a:ext uri="{FF2B5EF4-FFF2-40B4-BE49-F238E27FC236}">
                <a16:creationId xmlns:a16="http://schemas.microsoft.com/office/drawing/2014/main" id="{B96DD36D-3E3E-A983-FC67-CB0F1565515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FE66CFE-BFBA-8054-B6D1-3C0F21DF1BD9}"/>
              </a:ext>
            </a:extLst>
          </p:cNvPr>
          <p:cNvSpPr>
            <a:spLocks noGrp="1"/>
          </p:cNvSpPr>
          <p:nvPr>
            <p:ph type="sldNum" sz="quarter" idx="12"/>
          </p:nvPr>
        </p:nvSpPr>
        <p:spPr/>
        <p:txBody>
          <a:bodyPr/>
          <a:lstStyle/>
          <a:p>
            <a:fld id="{65D37B8E-96DA-4453-92EF-00C39ACAC795}" type="slidenum">
              <a:rPr lang="en-IN" smtClean="0"/>
              <a:t>‹#›</a:t>
            </a:fld>
            <a:endParaRPr lang="en-IN"/>
          </a:p>
        </p:txBody>
      </p:sp>
    </p:spTree>
    <p:extLst>
      <p:ext uri="{BB962C8B-B14F-4D97-AF65-F5344CB8AC3E}">
        <p14:creationId xmlns:p14="http://schemas.microsoft.com/office/powerpoint/2010/main" val="21817106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E51CD8-7AFB-369A-E831-FE6C11282703}"/>
              </a:ext>
            </a:extLst>
          </p:cNvPr>
          <p:cNvSpPr>
            <a:spLocks noGrp="1"/>
          </p:cNvSpPr>
          <p:nvPr>
            <p:ph type="dt" sz="half" idx="10"/>
          </p:nvPr>
        </p:nvSpPr>
        <p:spPr/>
        <p:txBody>
          <a:bodyPr/>
          <a:lstStyle/>
          <a:p>
            <a:fld id="{8CA8C473-BE93-4CDE-9347-E8FA9D8B3A3B}" type="datetimeFigureOut">
              <a:rPr lang="en-IN" smtClean="0"/>
              <a:t>24-04-2026</a:t>
            </a:fld>
            <a:endParaRPr lang="en-IN"/>
          </a:p>
        </p:txBody>
      </p:sp>
      <p:sp>
        <p:nvSpPr>
          <p:cNvPr id="3" name="Footer Placeholder 2">
            <a:extLst>
              <a:ext uri="{FF2B5EF4-FFF2-40B4-BE49-F238E27FC236}">
                <a16:creationId xmlns:a16="http://schemas.microsoft.com/office/drawing/2014/main" id="{11FD9289-AC8A-71A0-04AF-2225A4FC373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A49F701-12C6-5D65-B217-0A7F3E865181}"/>
              </a:ext>
            </a:extLst>
          </p:cNvPr>
          <p:cNvSpPr>
            <a:spLocks noGrp="1"/>
          </p:cNvSpPr>
          <p:nvPr>
            <p:ph type="sldNum" sz="quarter" idx="12"/>
          </p:nvPr>
        </p:nvSpPr>
        <p:spPr/>
        <p:txBody>
          <a:bodyPr/>
          <a:lstStyle/>
          <a:p>
            <a:fld id="{65D37B8E-96DA-4453-92EF-00C39ACAC795}" type="slidenum">
              <a:rPr lang="en-IN" smtClean="0"/>
              <a:t>‹#›</a:t>
            </a:fld>
            <a:endParaRPr lang="en-IN"/>
          </a:p>
        </p:txBody>
      </p:sp>
    </p:spTree>
    <p:extLst>
      <p:ext uri="{BB962C8B-B14F-4D97-AF65-F5344CB8AC3E}">
        <p14:creationId xmlns:p14="http://schemas.microsoft.com/office/powerpoint/2010/main" val="1694872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58AD6-863E-8EB9-8754-4AECBD16BE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CA8AAB5-8C82-89B9-CB0A-25F10E0AE3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D6AB1F6-565C-25CE-84DE-FEA6B47448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40092D-54E5-1850-09A5-0A65767FB466}"/>
              </a:ext>
            </a:extLst>
          </p:cNvPr>
          <p:cNvSpPr>
            <a:spLocks noGrp="1"/>
          </p:cNvSpPr>
          <p:nvPr>
            <p:ph type="dt" sz="half" idx="10"/>
          </p:nvPr>
        </p:nvSpPr>
        <p:spPr/>
        <p:txBody>
          <a:bodyPr/>
          <a:lstStyle/>
          <a:p>
            <a:fld id="{8CA8C473-BE93-4CDE-9347-E8FA9D8B3A3B}" type="datetimeFigureOut">
              <a:rPr lang="en-IN" smtClean="0"/>
              <a:t>24-04-2026</a:t>
            </a:fld>
            <a:endParaRPr lang="en-IN"/>
          </a:p>
        </p:txBody>
      </p:sp>
      <p:sp>
        <p:nvSpPr>
          <p:cNvPr id="6" name="Footer Placeholder 5">
            <a:extLst>
              <a:ext uri="{FF2B5EF4-FFF2-40B4-BE49-F238E27FC236}">
                <a16:creationId xmlns:a16="http://schemas.microsoft.com/office/drawing/2014/main" id="{9DDEBDDC-4648-7722-2FB1-DAF037971C0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3D6E32F-12B1-D108-ECA3-B209BB281CE8}"/>
              </a:ext>
            </a:extLst>
          </p:cNvPr>
          <p:cNvSpPr>
            <a:spLocks noGrp="1"/>
          </p:cNvSpPr>
          <p:nvPr>
            <p:ph type="sldNum" sz="quarter" idx="12"/>
          </p:nvPr>
        </p:nvSpPr>
        <p:spPr/>
        <p:txBody>
          <a:bodyPr/>
          <a:lstStyle/>
          <a:p>
            <a:fld id="{65D37B8E-96DA-4453-92EF-00C39ACAC795}" type="slidenum">
              <a:rPr lang="en-IN" smtClean="0"/>
              <a:t>‹#›</a:t>
            </a:fld>
            <a:endParaRPr lang="en-IN"/>
          </a:p>
        </p:txBody>
      </p:sp>
    </p:spTree>
    <p:extLst>
      <p:ext uri="{BB962C8B-B14F-4D97-AF65-F5344CB8AC3E}">
        <p14:creationId xmlns:p14="http://schemas.microsoft.com/office/powerpoint/2010/main" val="1619407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A48C6-B536-5F10-1297-6B29A4E10A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B1B604F-8AB4-B916-019F-4CEFD388CB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0811EA5-6B43-2B8A-F58D-2EEAD45175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A7B694-3923-DC3A-77E3-8D006FD8096A}"/>
              </a:ext>
            </a:extLst>
          </p:cNvPr>
          <p:cNvSpPr>
            <a:spLocks noGrp="1"/>
          </p:cNvSpPr>
          <p:nvPr>
            <p:ph type="dt" sz="half" idx="10"/>
          </p:nvPr>
        </p:nvSpPr>
        <p:spPr/>
        <p:txBody>
          <a:bodyPr/>
          <a:lstStyle/>
          <a:p>
            <a:fld id="{8CA8C473-BE93-4CDE-9347-E8FA9D8B3A3B}" type="datetimeFigureOut">
              <a:rPr lang="en-IN" smtClean="0"/>
              <a:t>24-04-2026</a:t>
            </a:fld>
            <a:endParaRPr lang="en-IN"/>
          </a:p>
        </p:txBody>
      </p:sp>
      <p:sp>
        <p:nvSpPr>
          <p:cNvPr id="6" name="Footer Placeholder 5">
            <a:extLst>
              <a:ext uri="{FF2B5EF4-FFF2-40B4-BE49-F238E27FC236}">
                <a16:creationId xmlns:a16="http://schemas.microsoft.com/office/drawing/2014/main" id="{72A93B68-DED0-F094-E53A-A13EDE331E2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083E59-AD32-7DCE-035D-48BB1AE6D8E1}"/>
              </a:ext>
            </a:extLst>
          </p:cNvPr>
          <p:cNvSpPr>
            <a:spLocks noGrp="1"/>
          </p:cNvSpPr>
          <p:nvPr>
            <p:ph type="sldNum" sz="quarter" idx="12"/>
          </p:nvPr>
        </p:nvSpPr>
        <p:spPr/>
        <p:txBody>
          <a:bodyPr/>
          <a:lstStyle/>
          <a:p>
            <a:fld id="{65D37B8E-96DA-4453-92EF-00C39ACAC795}" type="slidenum">
              <a:rPr lang="en-IN" smtClean="0"/>
              <a:t>‹#›</a:t>
            </a:fld>
            <a:endParaRPr lang="en-IN"/>
          </a:p>
        </p:txBody>
      </p:sp>
    </p:spTree>
    <p:extLst>
      <p:ext uri="{BB962C8B-B14F-4D97-AF65-F5344CB8AC3E}">
        <p14:creationId xmlns:p14="http://schemas.microsoft.com/office/powerpoint/2010/main" val="1303677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1E2E6-6A3C-A5C8-EC19-9629EE60117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39E1FED-5CF5-AD0F-6F3D-72DABE7E8A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A64A58-C256-DD26-AA2D-5EBE32AE3A3E}"/>
              </a:ext>
            </a:extLst>
          </p:cNvPr>
          <p:cNvSpPr>
            <a:spLocks noGrp="1"/>
          </p:cNvSpPr>
          <p:nvPr>
            <p:ph type="dt" sz="half" idx="10"/>
          </p:nvPr>
        </p:nvSpPr>
        <p:spPr/>
        <p:txBody>
          <a:bodyPr/>
          <a:lstStyle/>
          <a:p>
            <a:fld id="{8CA8C473-BE93-4CDE-9347-E8FA9D8B3A3B}" type="datetimeFigureOut">
              <a:rPr lang="en-IN" smtClean="0"/>
              <a:t>24-04-2026</a:t>
            </a:fld>
            <a:endParaRPr lang="en-IN"/>
          </a:p>
        </p:txBody>
      </p:sp>
      <p:sp>
        <p:nvSpPr>
          <p:cNvPr id="5" name="Footer Placeholder 4">
            <a:extLst>
              <a:ext uri="{FF2B5EF4-FFF2-40B4-BE49-F238E27FC236}">
                <a16:creationId xmlns:a16="http://schemas.microsoft.com/office/drawing/2014/main" id="{92602C68-5329-4CED-874C-D7068A6E59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F745FA-677B-E1BD-2F04-28829B3FCC25}"/>
              </a:ext>
            </a:extLst>
          </p:cNvPr>
          <p:cNvSpPr>
            <a:spLocks noGrp="1"/>
          </p:cNvSpPr>
          <p:nvPr>
            <p:ph type="sldNum" sz="quarter" idx="12"/>
          </p:nvPr>
        </p:nvSpPr>
        <p:spPr/>
        <p:txBody>
          <a:bodyPr/>
          <a:lstStyle/>
          <a:p>
            <a:fld id="{65D37B8E-96DA-4453-92EF-00C39ACAC795}" type="slidenum">
              <a:rPr lang="en-IN" smtClean="0"/>
              <a:t>‹#›</a:t>
            </a:fld>
            <a:endParaRPr lang="en-IN"/>
          </a:p>
        </p:txBody>
      </p:sp>
    </p:spTree>
    <p:extLst>
      <p:ext uri="{BB962C8B-B14F-4D97-AF65-F5344CB8AC3E}">
        <p14:creationId xmlns:p14="http://schemas.microsoft.com/office/powerpoint/2010/main" val="2231546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C976BA-642A-FFB7-B6E4-7520FD93FE8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A2CE259-7901-9386-6A28-A1D77842BC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884752-1FE5-1BB9-F252-E15BA8FF9668}"/>
              </a:ext>
            </a:extLst>
          </p:cNvPr>
          <p:cNvSpPr>
            <a:spLocks noGrp="1"/>
          </p:cNvSpPr>
          <p:nvPr>
            <p:ph type="dt" sz="half" idx="10"/>
          </p:nvPr>
        </p:nvSpPr>
        <p:spPr/>
        <p:txBody>
          <a:bodyPr/>
          <a:lstStyle/>
          <a:p>
            <a:fld id="{8CA8C473-BE93-4CDE-9347-E8FA9D8B3A3B}" type="datetimeFigureOut">
              <a:rPr lang="en-IN" smtClean="0"/>
              <a:t>24-04-2026</a:t>
            </a:fld>
            <a:endParaRPr lang="en-IN"/>
          </a:p>
        </p:txBody>
      </p:sp>
      <p:sp>
        <p:nvSpPr>
          <p:cNvPr id="5" name="Footer Placeholder 4">
            <a:extLst>
              <a:ext uri="{FF2B5EF4-FFF2-40B4-BE49-F238E27FC236}">
                <a16:creationId xmlns:a16="http://schemas.microsoft.com/office/drawing/2014/main" id="{27C43032-A60A-FF48-356B-C8DD2E3D9D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77BADD-995D-095C-0ED1-E3E204418B21}"/>
              </a:ext>
            </a:extLst>
          </p:cNvPr>
          <p:cNvSpPr>
            <a:spLocks noGrp="1"/>
          </p:cNvSpPr>
          <p:nvPr>
            <p:ph type="sldNum" sz="quarter" idx="12"/>
          </p:nvPr>
        </p:nvSpPr>
        <p:spPr/>
        <p:txBody>
          <a:bodyPr/>
          <a:lstStyle/>
          <a:p>
            <a:fld id="{65D37B8E-96DA-4453-92EF-00C39ACAC795}" type="slidenum">
              <a:rPr lang="en-IN" smtClean="0"/>
              <a:t>‹#›</a:t>
            </a:fld>
            <a:endParaRPr lang="en-IN"/>
          </a:p>
        </p:txBody>
      </p:sp>
    </p:spTree>
    <p:extLst>
      <p:ext uri="{BB962C8B-B14F-4D97-AF65-F5344CB8AC3E}">
        <p14:creationId xmlns:p14="http://schemas.microsoft.com/office/powerpoint/2010/main" val="846619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B9E4DB-9041-58E6-559F-4DFF3CFB7D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E22125F-88A1-8480-9361-204E68B22D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CC22DD-6953-73AA-7132-3840821568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A8C473-BE93-4CDE-9347-E8FA9D8B3A3B}" type="datetimeFigureOut">
              <a:rPr lang="en-IN" smtClean="0"/>
              <a:t>24-04-2026</a:t>
            </a:fld>
            <a:endParaRPr lang="en-IN"/>
          </a:p>
        </p:txBody>
      </p:sp>
      <p:sp>
        <p:nvSpPr>
          <p:cNvPr id="5" name="Footer Placeholder 4">
            <a:extLst>
              <a:ext uri="{FF2B5EF4-FFF2-40B4-BE49-F238E27FC236}">
                <a16:creationId xmlns:a16="http://schemas.microsoft.com/office/drawing/2014/main" id="{2354C486-BE43-600B-FBB5-242A8C97B1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0510F2E-329C-D1AB-E112-BBF7F3083F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D37B8E-96DA-4453-92EF-00C39ACAC795}" type="slidenum">
              <a:rPr lang="en-IN" smtClean="0"/>
              <a:t>‹#›</a:t>
            </a:fld>
            <a:endParaRPr lang="en-IN"/>
          </a:p>
        </p:txBody>
      </p:sp>
    </p:spTree>
    <p:extLst>
      <p:ext uri="{BB962C8B-B14F-4D97-AF65-F5344CB8AC3E}">
        <p14:creationId xmlns:p14="http://schemas.microsoft.com/office/powerpoint/2010/main" val="6582184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33F70-5D38-B415-19CE-070AC9DD5E88}"/>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D347FA0F-310E-9BE6-59CF-73B3C5A0682C}"/>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862F3710-6540-D98F-8831-29DCC1FD21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370" y="41715"/>
            <a:ext cx="12192000" cy="6858000"/>
          </a:xfrm>
          <a:prstGeom prst="rect">
            <a:avLst/>
          </a:prstGeom>
        </p:spPr>
      </p:pic>
      <p:pic>
        <p:nvPicPr>
          <p:cNvPr id="6" name="Graphic 5">
            <a:extLst>
              <a:ext uri="{FF2B5EF4-FFF2-40B4-BE49-F238E27FC236}">
                <a16:creationId xmlns:a16="http://schemas.microsoft.com/office/drawing/2014/main" id="{F7E6F98C-67E9-2AEC-ACA6-2606003344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370" y="2036762"/>
            <a:ext cx="2438400" cy="2438400"/>
          </a:xfrm>
          <a:prstGeom prst="rect">
            <a:avLst/>
          </a:prstGeom>
        </p:spPr>
      </p:pic>
      <p:pic>
        <p:nvPicPr>
          <p:cNvPr id="7" name="Graphic 6">
            <a:extLst>
              <a:ext uri="{FF2B5EF4-FFF2-40B4-BE49-F238E27FC236}">
                <a16:creationId xmlns:a16="http://schemas.microsoft.com/office/drawing/2014/main" id="{9C2DBF3C-79A6-15F7-B349-E469E59845E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723238" y="2174672"/>
            <a:ext cx="1889524" cy="1948572"/>
          </a:xfrm>
          <a:prstGeom prst="rect">
            <a:avLst/>
          </a:prstGeom>
        </p:spPr>
      </p:pic>
      <p:pic>
        <p:nvPicPr>
          <p:cNvPr id="9" name="Picture 8">
            <a:extLst>
              <a:ext uri="{FF2B5EF4-FFF2-40B4-BE49-F238E27FC236}">
                <a16:creationId xmlns:a16="http://schemas.microsoft.com/office/drawing/2014/main" id="{48CD5FE4-7799-B073-5389-972E9D675D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5370" y="4766553"/>
            <a:ext cx="2109049" cy="2049732"/>
          </a:xfrm>
          <a:prstGeom prst="rect">
            <a:avLst/>
          </a:prstGeom>
        </p:spPr>
      </p:pic>
    </p:spTree>
    <p:extLst>
      <p:ext uri="{BB962C8B-B14F-4D97-AF65-F5344CB8AC3E}">
        <p14:creationId xmlns:p14="http://schemas.microsoft.com/office/powerpoint/2010/main" val="9946729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8F8D8-A11A-A0AE-B131-BBDB956D59D6}"/>
              </a:ext>
            </a:extLst>
          </p:cNvPr>
          <p:cNvSpPr>
            <a:spLocks noGrp="1"/>
          </p:cNvSpPr>
          <p:nvPr>
            <p:ph type="title"/>
          </p:nvPr>
        </p:nvSpPr>
        <p:spPr/>
        <p:txBody>
          <a:bodyPr/>
          <a:lstStyle/>
          <a:p>
            <a:r>
              <a:rPr lang="en-US" dirty="0">
                <a:solidFill>
                  <a:srgbClr val="00ADD8"/>
                </a:solidFill>
              </a:rPr>
              <a:t>Index</a:t>
            </a:r>
            <a:endParaRPr lang="en-IN" dirty="0">
              <a:solidFill>
                <a:srgbClr val="00ADD8"/>
              </a:solidFill>
            </a:endParaRPr>
          </a:p>
        </p:txBody>
      </p:sp>
      <p:sp>
        <p:nvSpPr>
          <p:cNvPr id="3" name="Content Placeholder 2">
            <a:extLst>
              <a:ext uri="{FF2B5EF4-FFF2-40B4-BE49-F238E27FC236}">
                <a16:creationId xmlns:a16="http://schemas.microsoft.com/office/drawing/2014/main" id="{4F4A3030-EC27-F02C-51A5-F45910147687}"/>
              </a:ext>
            </a:extLst>
          </p:cNvPr>
          <p:cNvSpPr>
            <a:spLocks noGrp="1"/>
          </p:cNvSpPr>
          <p:nvPr>
            <p:ph idx="1"/>
          </p:nvPr>
        </p:nvSpPr>
        <p:spPr>
          <a:xfrm>
            <a:off x="838200" y="1488332"/>
            <a:ext cx="10515600" cy="4688631"/>
          </a:xfrm>
        </p:spPr>
        <p:txBody>
          <a:bodyPr>
            <a:normAutofit fontScale="92500" lnSpcReduction="20000"/>
          </a:bodyPr>
          <a:lstStyle/>
          <a:p>
            <a:r>
              <a:rPr lang="en-IN" dirty="0"/>
              <a:t>Microservice Architecture</a:t>
            </a:r>
          </a:p>
          <a:p>
            <a:r>
              <a:rPr lang="en-US" dirty="0"/>
              <a:t>Core Services (User, Product, Order, Payment, Notification)</a:t>
            </a:r>
          </a:p>
          <a:p>
            <a:r>
              <a:rPr lang="en-IN" dirty="0"/>
              <a:t>Implementing Microservices in Go</a:t>
            </a:r>
          </a:p>
          <a:p>
            <a:r>
              <a:rPr lang="en-US" dirty="0"/>
              <a:t>API Gateway: Concept and Role</a:t>
            </a:r>
          </a:p>
          <a:p>
            <a:r>
              <a:rPr lang="en-IN" dirty="0"/>
              <a:t>Service Communication (REST/</a:t>
            </a:r>
            <a:r>
              <a:rPr lang="en-IN" dirty="0" err="1"/>
              <a:t>gRPC</a:t>
            </a:r>
            <a:r>
              <a:rPr lang="en-IN" dirty="0"/>
              <a:t>)</a:t>
            </a:r>
          </a:p>
          <a:p>
            <a:r>
              <a:rPr lang="en-IN" dirty="0"/>
              <a:t>Service Communication Message Queues</a:t>
            </a:r>
          </a:p>
          <a:p>
            <a:r>
              <a:rPr lang="en-IN" dirty="0"/>
              <a:t>Data Management per Service</a:t>
            </a:r>
          </a:p>
          <a:p>
            <a:r>
              <a:rPr lang="en-IN" dirty="0"/>
              <a:t>Deployment (Docker &amp; Kubernetes)</a:t>
            </a:r>
          </a:p>
          <a:p>
            <a:r>
              <a:rPr lang="en-IN" dirty="0"/>
              <a:t>Monitoring and Security</a:t>
            </a:r>
            <a:endParaRPr lang="en-US" dirty="0"/>
          </a:p>
          <a:p>
            <a:r>
              <a:rPr lang="en-US" dirty="0"/>
              <a:t>Conclusion</a:t>
            </a:r>
          </a:p>
          <a:p>
            <a:r>
              <a:rPr lang="en-US" dirty="0"/>
              <a:t>Project </a:t>
            </a:r>
            <a:r>
              <a:rPr lang="en-US" dirty="0" err="1"/>
              <a:t>Github</a:t>
            </a:r>
            <a:r>
              <a:rPr lang="en-US" dirty="0"/>
              <a:t> Link</a:t>
            </a:r>
          </a:p>
          <a:p>
            <a:pPr marL="0" indent="0">
              <a:buNone/>
            </a:pPr>
            <a:endParaRPr lang="en-IN" dirty="0"/>
          </a:p>
          <a:p>
            <a:endParaRPr lang="en-IN" dirty="0"/>
          </a:p>
        </p:txBody>
      </p:sp>
    </p:spTree>
    <p:extLst>
      <p:ext uri="{BB962C8B-B14F-4D97-AF65-F5344CB8AC3E}">
        <p14:creationId xmlns:p14="http://schemas.microsoft.com/office/powerpoint/2010/main" val="105135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20D8D-3AAC-21C0-EF53-AEF47217FBF0}"/>
              </a:ext>
            </a:extLst>
          </p:cNvPr>
          <p:cNvSpPr>
            <a:spLocks noGrp="1"/>
          </p:cNvSpPr>
          <p:nvPr>
            <p:ph type="title"/>
          </p:nvPr>
        </p:nvSpPr>
        <p:spPr/>
        <p:txBody>
          <a:bodyPr/>
          <a:lstStyle/>
          <a:p>
            <a:r>
              <a:rPr lang="en-US" dirty="0">
                <a:solidFill>
                  <a:srgbClr val="00ADD8"/>
                </a:solidFill>
              </a:rPr>
              <a:t>Microservice Architecture </a:t>
            </a:r>
            <a:endParaRPr lang="en-IN" dirty="0"/>
          </a:p>
        </p:txBody>
      </p:sp>
      <p:sp>
        <p:nvSpPr>
          <p:cNvPr id="3" name="Content Placeholder 2">
            <a:extLst>
              <a:ext uri="{FF2B5EF4-FFF2-40B4-BE49-F238E27FC236}">
                <a16:creationId xmlns:a16="http://schemas.microsoft.com/office/drawing/2014/main" id="{59F576CD-0768-D50D-C091-C00FC17DF166}"/>
              </a:ext>
            </a:extLst>
          </p:cNvPr>
          <p:cNvSpPr>
            <a:spLocks noGrp="1"/>
          </p:cNvSpPr>
          <p:nvPr>
            <p:ph idx="1"/>
          </p:nvPr>
        </p:nvSpPr>
        <p:spPr/>
        <p:txBody>
          <a:bodyPr/>
          <a:lstStyle/>
          <a:p>
            <a:r>
              <a:rPr lang="en-US" dirty="0"/>
              <a:t>The system consists of multiple backend services (User, Product, Order, Payment) accessed through a single entry point—the API Gateway. Clients (web/mobile) send requests to the gateway, which routes them to appropriate services. Supporting components include databases, service discovery, logging, and monitoring tools.</a:t>
            </a:r>
          </a:p>
          <a:p>
            <a:pPr marL="0" indent="0">
              <a:buNone/>
            </a:pPr>
            <a:br>
              <a:rPr lang="en-US" dirty="0"/>
            </a:br>
            <a:endParaRPr lang="en-US" dirty="0"/>
          </a:p>
          <a:p>
            <a:endParaRPr lang="en-IN" dirty="0"/>
          </a:p>
        </p:txBody>
      </p:sp>
    </p:spTree>
    <p:extLst>
      <p:ext uri="{BB962C8B-B14F-4D97-AF65-F5344CB8AC3E}">
        <p14:creationId xmlns:p14="http://schemas.microsoft.com/office/powerpoint/2010/main" val="2696427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C304E-F8DA-9E28-E4A8-B9C8DA36719E}"/>
              </a:ext>
            </a:extLst>
          </p:cNvPr>
          <p:cNvSpPr>
            <a:spLocks noGrp="1"/>
          </p:cNvSpPr>
          <p:nvPr>
            <p:ph type="title"/>
          </p:nvPr>
        </p:nvSpPr>
        <p:spPr>
          <a:xfrm>
            <a:off x="205903" y="2766218"/>
            <a:ext cx="4405008" cy="1325563"/>
          </a:xfrm>
        </p:spPr>
        <p:txBody>
          <a:bodyPr/>
          <a:lstStyle/>
          <a:p>
            <a:r>
              <a:rPr lang="en-US" dirty="0">
                <a:solidFill>
                  <a:srgbClr val="00ADD8"/>
                </a:solidFill>
              </a:rPr>
              <a:t>Overall Architecture </a:t>
            </a:r>
            <a:endParaRPr lang="en-IN" dirty="0"/>
          </a:p>
        </p:txBody>
      </p:sp>
      <p:pic>
        <p:nvPicPr>
          <p:cNvPr id="5" name="Content Placeholder 4">
            <a:extLst>
              <a:ext uri="{FF2B5EF4-FFF2-40B4-BE49-F238E27FC236}">
                <a16:creationId xmlns:a16="http://schemas.microsoft.com/office/drawing/2014/main" id="{61EFC491-A2D0-332F-27E5-10404ABF691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65280" y="140021"/>
            <a:ext cx="9026719" cy="6109664"/>
          </a:xfrm>
          <a:prstGeom prst="rect">
            <a:avLst/>
          </a:prstGeom>
        </p:spPr>
      </p:pic>
    </p:spTree>
    <p:extLst>
      <p:ext uri="{BB962C8B-B14F-4D97-AF65-F5344CB8AC3E}">
        <p14:creationId xmlns:p14="http://schemas.microsoft.com/office/powerpoint/2010/main" val="1184532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A4124-3C03-D0EB-C117-32B87C5D624B}"/>
              </a:ext>
            </a:extLst>
          </p:cNvPr>
          <p:cNvSpPr>
            <a:spLocks noGrp="1"/>
          </p:cNvSpPr>
          <p:nvPr>
            <p:ph type="title"/>
          </p:nvPr>
        </p:nvSpPr>
        <p:spPr>
          <a:xfrm>
            <a:off x="838200" y="365125"/>
            <a:ext cx="9901136" cy="841105"/>
          </a:xfrm>
        </p:spPr>
        <p:txBody>
          <a:bodyPr/>
          <a:lstStyle/>
          <a:p>
            <a:r>
              <a:rPr lang="en-US" dirty="0">
                <a:solidFill>
                  <a:srgbClr val="00ADD8"/>
                </a:solidFill>
              </a:rPr>
              <a:t>Microservice Architecture </a:t>
            </a:r>
            <a:endParaRPr lang="en-IN" dirty="0"/>
          </a:p>
        </p:txBody>
      </p:sp>
      <p:pic>
        <p:nvPicPr>
          <p:cNvPr id="5" name="Content Placeholder 4">
            <a:extLst>
              <a:ext uri="{FF2B5EF4-FFF2-40B4-BE49-F238E27FC236}">
                <a16:creationId xmlns:a16="http://schemas.microsoft.com/office/drawing/2014/main" id="{11F899D1-F55E-CE59-9903-07C75A8FDD8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360336"/>
            <a:ext cx="9901136" cy="4952514"/>
          </a:xfrm>
          <a:prstGeom prst="rect">
            <a:avLst/>
          </a:prstGeom>
        </p:spPr>
      </p:pic>
    </p:spTree>
    <p:extLst>
      <p:ext uri="{BB962C8B-B14F-4D97-AF65-F5344CB8AC3E}">
        <p14:creationId xmlns:p14="http://schemas.microsoft.com/office/powerpoint/2010/main" val="2080040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131CC-B24E-C412-3955-B54E25C3A1D8}"/>
              </a:ext>
            </a:extLst>
          </p:cNvPr>
          <p:cNvSpPr>
            <a:spLocks noGrp="1"/>
          </p:cNvSpPr>
          <p:nvPr>
            <p:ph type="title"/>
          </p:nvPr>
        </p:nvSpPr>
        <p:spPr>
          <a:xfrm>
            <a:off x="408562" y="365125"/>
            <a:ext cx="10945238" cy="1325563"/>
          </a:xfrm>
        </p:spPr>
        <p:txBody>
          <a:bodyPr>
            <a:normAutofit/>
          </a:bodyPr>
          <a:lstStyle/>
          <a:p>
            <a:r>
              <a:rPr lang="en-US" dirty="0">
                <a:solidFill>
                  <a:srgbClr val="00ADD8"/>
                </a:solidFill>
              </a:rPr>
              <a:t>Microservice Core Services </a:t>
            </a:r>
            <a:r>
              <a:rPr lang="en-US" sz="1800" dirty="0">
                <a:solidFill>
                  <a:srgbClr val="00ADD8"/>
                </a:solidFill>
              </a:rPr>
              <a:t>(User, Product, Order, Notification) </a:t>
            </a:r>
            <a:r>
              <a:rPr lang="en-US" dirty="0">
                <a:solidFill>
                  <a:srgbClr val="00ADD8"/>
                </a:solidFill>
              </a:rPr>
              <a:t>	</a:t>
            </a:r>
            <a:endParaRPr lang="en-IN" sz="1800" dirty="0"/>
          </a:p>
        </p:txBody>
      </p:sp>
      <p:sp>
        <p:nvSpPr>
          <p:cNvPr id="3" name="Content Placeholder 2">
            <a:extLst>
              <a:ext uri="{FF2B5EF4-FFF2-40B4-BE49-F238E27FC236}">
                <a16:creationId xmlns:a16="http://schemas.microsoft.com/office/drawing/2014/main" id="{BC02B552-EC39-AE5D-A0E3-28F5CC94CA1D}"/>
              </a:ext>
            </a:extLst>
          </p:cNvPr>
          <p:cNvSpPr>
            <a:spLocks noGrp="1"/>
          </p:cNvSpPr>
          <p:nvPr>
            <p:ph idx="1"/>
          </p:nvPr>
        </p:nvSpPr>
        <p:spPr/>
        <p:txBody>
          <a:bodyPr/>
          <a:lstStyle/>
          <a:p>
            <a:r>
              <a:rPr lang="en-US" dirty="0"/>
              <a:t>    Each service handles a specific domain:</a:t>
            </a:r>
          </a:p>
          <a:p>
            <a:r>
              <a:rPr lang="en-US" dirty="0"/>
              <a:t>    User Service: authentication, profiles</a:t>
            </a:r>
          </a:p>
          <a:p>
            <a:r>
              <a:rPr lang="en-US" dirty="0"/>
              <a:t>    Product Service: catalog, pricing</a:t>
            </a:r>
          </a:p>
          <a:p>
            <a:r>
              <a:rPr lang="en-US" dirty="0"/>
              <a:t>    Order Service: order creation and tracking</a:t>
            </a:r>
          </a:p>
          <a:p>
            <a:r>
              <a:rPr lang="en-US" dirty="0"/>
              <a:t>    Payment Service: transaction handling</a:t>
            </a:r>
          </a:p>
          <a:p>
            <a:r>
              <a:rPr lang="en-US" dirty="0"/>
              <a:t>    This separation ensures clear responsibilities and independent scaling.</a:t>
            </a:r>
          </a:p>
          <a:p>
            <a:pPr marL="0" indent="0">
              <a:buNone/>
            </a:pPr>
            <a:endParaRPr lang="en-US" dirty="0"/>
          </a:p>
        </p:txBody>
      </p:sp>
    </p:spTree>
    <p:extLst>
      <p:ext uri="{BB962C8B-B14F-4D97-AF65-F5344CB8AC3E}">
        <p14:creationId xmlns:p14="http://schemas.microsoft.com/office/powerpoint/2010/main" val="13935039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B05DB-0970-D87D-EE89-A44EADB00D94}"/>
              </a:ext>
            </a:extLst>
          </p:cNvPr>
          <p:cNvSpPr>
            <a:spLocks noGrp="1"/>
          </p:cNvSpPr>
          <p:nvPr>
            <p:ph type="title"/>
          </p:nvPr>
        </p:nvSpPr>
        <p:spPr/>
        <p:txBody>
          <a:bodyPr/>
          <a:lstStyle/>
          <a:p>
            <a:r>
              <a:rPr lang="en-US" dirty="0">
                <a:solidFill>
                  <a:srgbClr val="00ADD8"/>
                </a:solidFill>
              </a:rPr>
              <a:t>Implementing Microservices in Go</a:t>
            </a:r>
            <a:endParaRPr lang="en-IN" dirty="0"/>
          </a:p>
        </p:txBody>
      </p:sp>
      <p:sp>
        <p:nvSpPr>
          <p:cNvPr id="3" name="Content Placeholder 2">
            <a:extLst>
              <a:ext uri="{FF2B5EF4-FFF2-40B4-BE49-F238E27FC236}">
                <a16:creationId xmlns:a16="http://schemas.microsoft.com/office/drawing/2014/main" id="{4D5DC432-61BA-0F35-A6D8-4FB97D381DE2}"/>
              </a:ext>
            </a:extLst>
          </p:cNvPr>
          <p:cNvSpPr>
            <a:spLocks noGrp="1"/>
          </p:cNvSpPr>
          <p:nvPr>
            <p:ph idx="1"/>
          </p:nvPr>
        </p:nvSpPr>
        <p:spPr/>
        <p:txBody>
          <a:bodyPr/>
          <a:lstStyle/>
          <a:p>
            <a:r>
              <a:rPr lang="en-US" dirty="0"/>
              <a:t>Go is suitable for microservices due to its performance, simplicity, and concurrency support (goroutines). Each service is typically built as a lightweight HTTP or </a:t>
            </a:r>
            <a:r>
              <a:rPr lang="en-US" dirty="0" err="1"/>
              <a:t>gRPC</a:t>
            </a:r>
            <a:r>
              <a:rPr lang="en-US" dirty="0"/>
              <a:t> server. standard net/http or chi are commonly used for building APIs.</a:t>
            </a:r>
          </a:p>
          <a:p>
            <a:pPr marL="0" indent="0">
              <a:buNone/>
            </a:pPr>
            <a:br>
              <a:rPr lang="en-US" dirty="0"/>
            </a:br>
            <a:endParaRPr lang="en-US" dirty="0"/>
          </a:p>
          <a:p>
            <a:endParaRPr lang="en-IN" dirty="0"/>
          </a:p>
        </p:txBody>
      </p:sp>
    </p:spTree>
    <p:extLst>
      <p:ext uri="{BB962C8B-B14F-4D97-AF65-F5344CB8AC3E}">
        <p14:creationId xmlns:p14="http://schemas.microsoft.com/office/powerpoint/2010/main" val="371454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9D850-A526-33D9-AEE2-7F81B1DB2C7F}"/>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09E92B3E-7B8C-4F02-D4A7-FDF47FF01A9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02690" y="1806170"/>
            <a:ext cx="6098671" cy="4351338"/>
          </a:xfrm>
          <a:prstGeom prst="rect">
            <a:avLst/>
          </a:prstGeom>
        </p:spPr>
      </p:pic>
      <p:pic>
        <p:nvPicPr>
          <p:cNvPr id="8" name="Picture 7">
            <a:extLst>
              <a:ext uri="{FF2B5EF4-FFF2-40B4-BE49-F238E27FC236}">
                <a16:creationId xmlns:a16="http://schemas.microsoft.com/office/drawing/2014/main" id="{2646CE84-6C41-FB48-0C24-F5D25F040C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73928" y="1989007"/>
            <a:ext cx="3314987" cy="4168501"/>
          </a:xfrm>
          <a:prstGeom prst="rect">
            <a:avLst/>
          </a:prstGeom>
        </p:spPr>
      </p:pic>
    </p:spTree>
    <p:extLst>
      <p:ext uri="{BB962C8B-B14F-4D97-AF65-F5344CB8AC3E}">
        <p14:creationId xmlns:p14="http://schemas.microsoft.com/office/powerpoint/2010/main" val="468714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A0905-8D23-5598-9EBD-9E6CB2C6306F}"/>
              </a:ext>
            </a:extLst>
          </p:cNvPr>
          <p:cNvSpPr>
            <a:spLocks noGrp="1"/>
          </p:cNvSpPr>
          <p:nvPr>
            <p:ph type="title"/>
          </p:nvPr>
        </p:nvSpPr>
        <p:spPr/>
        <p:txBody>
          <a:bodyPr/>
          <a:lstStyle/>
          <a:p>
            <a:r>
              <a:rPr lang="en-US" dirty="0">
                <a:solidFill>
                  <a:srgbClr val="00ADD8"/>
                </a:solidFill>
              </a:rPr>
              <a:t>API Gateway: Concept and Role</a:t>
            </a:r>
            <a:endParaRPr lang="en-IN" dirty="0"/>
          </a:p>
        </p:txBody>
      </p:sp>
      <p:sp>
        <p:nvSpPr>
          <p:cNvPr id="3" name="Content Placeholder 2">
            <a:extLst>
              <a:ext uri="{FF2B5EF4-FFF2-40B4-BE49-F238E27FC236}">
                <a16:creationId xmlns:a16="http://schemas.microsoft.com/office/drawing/2014/main" id="{0767229F-4388-74BA-881C-6B091C94E98E}"/>
              </a:ext>
            </a:extLst>
          </p:cNvPr>
          <p:cNvSpPr>
            <a:spLocks noGrp="1"/>
          </p:cNvSpPr>
          <p:nvPr>
            <p:ph idx="1"/>
          </p:nvPr>
        </p:nvSpPr>
        <p:spPr/>
        <p:txBody>
          <a:bodyPr/>
          <a:lstStyle/>
          <a:p>
            <a:r>
              <a:rPr lang="en-US" dirty="0"/>
              <a:t>The API Gateway acts as a central entry point for all client requests. It routes requests to appropriate services, aggregates responses, and handles cross-cutting concerns such as authentication, logging, and rate limiting. It simplifies client interaction with multiple services.</a:t>
            </a:r>
          </a:p>
          <a:p>
            <a:r>
              <a:rPr lang="en-US" dirty="0"/>
              <a:t>In Go, the API Gateway can be implemented using Go Chi. It handles request routing, validates tokens (JWT), and enforces authentication and authorization policies. Middleware is used for logging, security, and request filtering.</a:t>
            </a:r>
          </a:p>
          <a:p>
            <a:endParaRPr lang="en-IN" dirty="0"/>
          </a:p>
        </p:txBody>
      </p:sp>
    </p:spTree>
    <p:extLst>
      <p:ext uri="{BB962C8B-B14F-4D97-AF65-F5344CB8AC3E}">
        <p14:creationId xmlns:p14="http://schemas.microsoft.com/office/powerpoint/2010/main" val="2600081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08490-5B09-02BD-9F1E-1CE84F8B46E5}"/>
              </a:ext>
            </a:extLst>
          </p:cNvPr>
          <p:cNvSpPr>
            <a:spLocks noGrp="1"/>
          </p:cNvSpPr>
          <p:nvPr>
            <p:ph type="title"/>
          </p:nvPr>
        </p:nvSpPr>
        <p:spPr/>
        <p:txBody>
          <a:bodyPr/>
          <a:lstStyle/>
          <a:p>
            <a:endParaRPr lang="en-IN"/>
          </a:p>
        </p:txBody>
      </p:sp>
      <p:pic>
        <p:nvPicPr>
          <p:cNvPr id="9" name="Content Placeholder 8">
            <a:extLst>
              <a:ext uri="{FF2B5EF4-FFF2-40B4-BE49-F238E27FC236}">
                <a16:creationId xmlns:a16="http://schemas.microsoft.com/office/drawing/2014/main" id="{1CDCCBD2-EFD0-180B-CFC7-A5879A788B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5618" y="160845"/>
            <a:ext cx="11400722" cy="6127750"/>
          </a:xfrm>
          <a:prstGeom prst="rect">
            <a:avLst/>
          </a:prstGeom>
        </p:spPr>
      </p:pic>
    </p:spTree>
    <p:extLst>
      <p:ext uri="{BB962C8B-B14F-4D97-AF65-F5344CB8AC3E}">
        <p14:creationId xmlns:p14="http://schemas.microsoft.com/office/powerpoint/2010/main" val="1654477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A69B-16FD-C1EF-9537-60DB432C27AA}"/>
              </a:ext>
            </a:extLst>
          </p:cNvPr>
          <p:cNvSpPr>
            <a:spLocks noGrp="1"/>
          </p:cNvSpPr>
          <p:nvPr>
            <p:ph type="title"/>
          </p:nvPr>
        </p:nvSpPr>
        <p:spPr/>
        <p:txBody>
          <a:bodyPr/>
          <a:lstStyle/>
          <a:p>
            <a:r>
              <a:rPr lang="en-US" dirty="0">
                <a:solidFill>
                  <a:srgbClr val="00ADD8"/>
                </a:solidFill>
              </a:rPr>
              <a:t>Service Communication (REST/</a:t>
            </a:r>
            <a:r>
              <a:rPr lang="en-US" dirty="0" err="1">
                <a:solidFill>
                  <a:srgbClr val="00ADD8"/>
                </a:solidFill>
              </a:rPr>
              <a:t>gRPC</a:t>
            </a:r>
            <a:r>
              <a:rPr lang="en-US" dirty="0">
                <a:solidFill>
                  <a:srgbClr val="00ADD8"/>
                </a:solidFill>
              </a:rPr>
              <a:t>)</a:t>
            </a:r>
            <a:endParaRPr lang="en-IN" dirty="0"/>
          </a:p>
        </p:txBody>
      </p:sp>
      <p:sp>
        <p:nvSpPr>
          <p:cNvPr id="3" name="Content Placeholder 2">
            <a:extLst>
              <a:ext uri="{FF2B5EF4-FFF2-40B4-BE49-F238E27FC236}">
                <a16:creationId xmlns:a16="http://schemas.microsoft.com/office/drawing/2014/main" id="{69667D8F-05CA-8E0A-0BAD-ABB4E5F1CF42}"/>
              </a:ext>
            </a:extLst>
          </p:cNvPr>
          <p:cNvSpPr>
            <a:spLocks noGrp="1"/>
          </p:cNvSpPr>
          <p:nvPr>
            <p:ph idx="1"/>
          </p:nvPr>
        </p:nvSpPr>
        <p:spPr/>
        <p:txBody>
          <a:bodyPr/>
          <a:lstStyle/>
          <a:p>
            <a:r>
              <a:rPr lang="en-US" dirty="0"/>
              <a:t>Services communicate either via REST (HTTP/JSON) or </a:t>
            </a:r>
            <a:r>
              <a:rPr lang="en-US" dirty="0" err="1"/>
              <a:t>gRPC</a:t>
            </a:r>
            <a:r>
              <a:rPr lang="en-US" dirty="0"/>
              <a:t> (high-performance binary protocol). REST is simple and widely used, while </a:t>
            </a:r>
            <a:r>
              <a:rPr lang="en-US" dirty="0" err="1"/>
              <a:t>gRPC</a:t>
            </a:r>
            <a:r>
              <a:rPr lang="en-US" dirty="0"/>
              <a:t> offers better performance and strict contracts using Protocol Buffers. Choice depends on system requirements.</a:t>
            </a:r>
          </a:p>
          <a:p>
            <a:endParaRPr lang="en-IN" dirty="0"/>
          </a:p>
        </p:txBody>
      </p:sp>
    </p:spTree>
    <p:extLst>
      <p:ext uri="{BB962C8B-B14F-4D97-AF65-F5344CB8AC3E}">
        <p14:creationId xmlns:p14="http://schemas.microsoft.com/office/powerpoint/2010/main" val="3987741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4F004-8750-B18C-D191-086BE56F418F}"/>
              </a:ext>
            </a:extLst>
          </p:cNvPr>
          <p:cNvSpPr>
            <a:spLocks noGrp="1"/>
          </p:cNvSpPr>
          <p:nvPr>
            <p:ph type="title"/>
          </p:nvPr>
        </p:nvSpPr>
        <p:spPr/>
        <p:txBody>
          <a:bodyPr/>
          <a:lstStyle/>
          <a:p>
            <a:r>
              <a:rPr lang="en-US" dirty="0">
                <a:solidFill>
                  <a:srgbClr val="00ADD8"/>
                </a:solidFill>
              </a:rPr>
              <a:t>Service Communication Message Queues</a:t>
            </a:r>
            <a:endParaRPr lang="en-IN" dirty="0"/>
          </a:p>
        </p:txBody>
      </p:sp>
      <p:sp>
        <p:nvSpPr>
          <p:cNvPr id="3" name="Content Placeholder 2">
            <a:extLst>
              <a:ext uri="{FF2B5EF4-FFF2-40B4-BE49-F238E27FC236}">
                <a16:creationId xmlns:a16="http://schemas.microsoft.com/office/drawing/2014/main" id="{6764A0AA-B46F-6DE0-AFA1-26093AC8D416}"/>
              </a:ext>
            </a:extLst>
          </p:cNvPr>
          <p:cNvSpPr>
            <a:spLocks noGrp="1"/>
          </p:cNvSpPr>
          <p:nvPr>
            <p:ph idx="1"/>
          </p:nvPr>
        </p:nvSpPr>
        <p:spPr/>
        <p:txBody>
          <a:bodyPr/>
          <a:lstStyle/>
          <a:p>
            <a:r>
              <a:rPr lang="en-US" dirty="0"/>
              <a:t>for async communication between services queues are preferred as they form the backbone of event based system.  there are 2 options in general as </a:t>
            </a:r>
            <a:r>
              <a:rPr lang="en-US" dirty="0" err="1"/>
              <a:t>rabbitmq</a:t>
            </a:r>
            <a:r>
              <a:rPr lang="en-US" dirty="0"/>
              <a:t> and </a:t>
            </a:r>
            <a:r>
              <a:rPr lang="en-US" dirty="0" err="1"/>
              <a:t>kafka</a:t>
            </a:r>
            <a:r>
              <a:rPr lang="en-US" dirty="0"/>
              <a:t>,  </a:t>
            </a:r>
            <a:r>
              <a:rPr lang="en-US" dirty="0" err="1"/>
              <a:t>rabbitmq</a:t>
            </a:r>
            <a:r>
              <a:rPr lang="en-US" dirty="0"/>
              <a:t> </a:t>
            </a:r>
            <a:r>
              <a:rPr lang="en-US" dirty="0" err="1"/>
              <a:t>worksa</a:t>
            </a:r>
            <a:r>
              <a:rPr lang="en-US" dirty="0"/>
              <a:t> as a queue while in </a:t>
            </a:r>
            <a:r>
              <a:rPr lang="en-US" dirty="0" err="1"/>
              <a:t>kafka</a:t>
            </a:r>
            <a:r>
              <a:rPr lang="en-US" dirty="0"/>
              <a:t> all messages can be </a:t>
            </a:r>
            <a:r>
              <a:rPr lang="en-US" dirty="0" err="1"/>
              <a:t>retrived</a:t>
            </a:r>
            <a:r>
              <a:rPr lang="en-US" dirty="0"/>
              <a:t> and processed by next service serially as each service can get stream of all messages. it is good for high write and message backlogging, but expensive for smaller services. Here we are using </a:t>
            </a:r>
            <a:r>
              <a:rPr lang="en-US" dirty="0" err="1"/>
              <a:t>rabbitmq</a:t>
            </a:r>
            <a:r>
              <a:rPr lang="en-US" dirty="0"/>
              <a:t> between order and notification service.</a:t>
            </a:r>
          </a:p>
          <a:p>
            <a:pPr marL="0" indent="0">
              <a:buNone/>
            </a:pPr>
            <a:br>
              <a:rPr lang="en-US" dirty="0"/>
            </a:br>
            <a:endParaRPr lang="en-US" dirty="0"/>
          </a:p>
          <a:p>
            <a:endParaRPr lang="en-IN" dirty="0"/>
          </a:p>
        </p:txBody>
      </p:sp>
      <p:pic>
        <p:nvPicPr>
          <p:cNvPr id="5" name="Picture 4">
            <a:extLst>
              <a:ext uri="{FF2B5EF4-FFF2-40B4-BE49-F238E27FC236}">
                <a16:creationId xmlns:a16="http://schemas.microsoft.com/office/drawing/2014/main" id="{1719B7A3-3B68-85D4-E947-F46E203368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03442" y="4815191"/>
            <a:ext cx="1903278" cy="1903278"/>
          </a:xfrm>
          <a:prstGeom prst="rect">
            <a:avLst/>
          </a:prstGeom>
        </p:spPr>
      </p:pic>
    </p:spTree>
    <p:extLst>
      <p:ext uri="{BB962C8B-B14F-4D97-AF65-F5344CB8AC3E}">
        <p14:creationId xmlns:p14="http://schemas.microsoft.com/office/powerpoint/2010/main" val="35630134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33D82-18E4-D578-780E-FBD11F3A3B86}"/>
              </a:ext>
            </a:extLst>
          </p:cNvPr>
          <p:cNvSpPr>
            <a:spLocks noGrp="1"/>
          </p:cNvSpPr>
          <p:nvPr>
            <p:ph type="title"/>
          </p:nvPr>
        </p:nvSpPr>
        <p:spPr/>
        <p:txBody>
          <a:bodyPr/>
          <a:lstStyle/>
          <a:p>
            <a:r>
              <a:rPr lang="en-US" dirty="0">
                <a:solidFill>
                  <a:srgbClr val="00ADD8"/>
                </a:solidFill>
              </a:rPr>
              <a:t>Service Communication Message Queues</a:t>
            </a:r>
            <a:endParaRPr lang="en-IN" dirty="0"/>
          </a:p>
        </p:txBody>
      </p:sp>
      <p:pic>
        <p:nvPicPr>
          <p:cNvPr id="5" name="Content Placeholder 4">
            <a:extLst>
              <a:ext uri="{FF2B5EF4-FFF2-40B4-BE49-F238E27FC236}">
                <a16:creationId xmlns:a16="http://schemas.microsoft.com/office/drawing/2014/main" id="{50CC2BA7-BF3C-E4E4-67C3-57163C86BBC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3002" y="2393004"/>
            <a:ext cx="10838083" cy="3071457"/>
          </a:xfrm>
          <a:prstGeom prst="rect">
            <a:avLst/>
          </a:prstGeom>
        </p:spPr>
      </p:pic>
    </p:spTree>
    <p:extLst>
      <p:ext uri="{BB962C8B-B14F-4D97-AF65-F5344CB8AC3E}">
        <p14:creationId xmlns:p14="http://schemas.microsoft.com/office/powerpoint/2010/main" val="1415167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5ECF1-7768-7F7F-0325-D7624AA8969C}"/>
              </a:ext>
            </a:extLst>
          </p:cNvPr>
          <p:cNvSpPr>
            <a:spLocks noGrp="1"/>
          </p:cNvSpPr>
          <p:nvPr>
            <p:ph type="title"/>
          </p:nvPr>
        </p:nvSpPr>
        <p:spPr/>
        <p:txBody>
          <a:bodyPr/>
          <a:lstStyle/>
          <a:p>
            <a:r>
              <a:rPr lang="en-US" dirty="0">
                <a:solidFill>
                  <a:srgbClr val="00ADD8"/>
                </a:solidFill>
              </a:rPr>
              <a:t>Data Management per Service</a:t>
            </a:r>
            <a:endParaRPr lang="en-IN" dirty="0"/>
          </a:p>
        </p:txBody>
      </p:sp>
      <p:sp>
        <p:nvSpPr>
          <p:cNvPr id="3" name="Content Placeholder 2">
            <a:extLst>
              <a:ext uri="{FF2B5EF4-FFF2-40B4-BE49-F238E27FC236}">
                <a16:creationId xmlns:a16="http://schemas.microsoft.com/office/drawing/2014/main" id="{96D75540-E81B-3751-70D4-7C2879D282F9}"/>
              </a:ext>
            </a:extLst>
          </p:cNvPr>
          <p:cNvSpPr>
            <a:spLocks noGrp="1"/>
          </p:cNvSpPr>
          <p:nvPr>
            <p:ph idx="1"/>
          </p:nvPr>
        </p:nvSpPr>
        <p:spPr/>
        <p:txBody>
          <a:bodyPr/>
          <a:lstStyle/>
          <a:p>
            <a:r>
              <a:rPr lang="en-US" dirty="0"/>
              <a:t>Each microservice maintains its own database to ensure loose coupling. This avoids direct database sharing and allows independent schema evolution. Data consistency is handled using eventual consistency patterns and messaging systems. the database can </a:t>
            </a:r>
            <a:r>
              <a:rPr lang="en-US" dirty="0" err="1"/>
              <a:t>postgres</a:t>
            </a:r>
            <a:r>
              <a:rPr lang="en-US" dirty="0"/>
              <a:t>, </a:t>
            </a:r>
            <a:r>
              <a:rPr lang="en-US" dirty="0" err="1"/>
              <a:t>mysql</a:t>
            </a:r>
            <a:r>
              <a:rPr lang="en-US" dirty="0"/>
              <a:t> ,mongo or any other as per requirements</a:t>
            </a:r>
          </a:p>
          <a:p>
            <a:pPr marL="0" indent="0">
              <a:buNone/>
            </a:pPr>
            <a:br>
              <a:rPr lang="en-US" dirty="0"/>
            </a:br>
            <a:endParaRPr lang="en-US" dirty="0"/>
          </a:p>
          <a:p>
            <a:endParaRPr lang="en-IN" dirty="0"/>
          </a:p>
        </p:txBody>
      </p:sp>
      <p:pic>
        <p:nvPicPr>
          <p:cNvPr id="5" name="Graphic 4">
            <a:extLst>
              <a:ext uri="{FF2B5EF4-FFF2-40B4-BE49-F238E27FC236}">
                <a16:creationId xmlns:a16="http://schemas.microsoft.com/office/drawing/2014/main" id="{C72ADD7B-5863-EE9A-1FBB-F50BA8E5C98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006518" y="4834309"/>
            <a:ext cx="1608307" cy="1658566"/>
          </a:xfrm>
          <a:prstGeom prst="rect">
            <a:avLst/>
          </a:prstGeom>
        </p:spPr>
      </p:pic>
    </p:spTree>
    <p:extLst>
      <p:ext uri="{BB962C8B-B14F-4D97-AF65-F5344CB8AC3E}">
        <p14:creationId xmlns:p14="http://schemas.microsoft.com/office/powerpoint/2010/main" val="38597494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5EFE6-878C-6AF3-2932-A515CBAEB3A6}"/>
              </a:ext>
            </a:extLst>
          </p:cNvPr>
          <p:cNvSpPr>
            <a:spLocks noGrp="1"/>
          </p:cNvSpPr>
          <p:nvPr>
            <p:ph type="title"/>
          </p:nvPr>
        </p:nvSpPr>
        <p:spPr/>
        <p:txBody>
          <a:bodyPr/>
          <a:lstStyle/>
          <a:p>
            <a:r>
              <a:rPr lang="en-US" dirty="0">
                <a:solidFill>
                  <a:srgbClr val="00ADD8"/>
                </a:solidFill>
              </a:rPr>
              <a:t>Data Management per Service</a:t>
            </a:r>
            <a:endParaRPr lang="en-IN" dirty="0"/>
          </a:p>
        </p:txBody>
      </p:sp>
      <p:pic>
        <p:nvPicPr>
          <p:cNvPr id="5" name="Content Placeholder 4">
            <a:extLst>
              <a:ext uri="{FF2B5EF4-FFF2-40B4-BE49-F238E27FC236}">
                <a16:creationId xmlns:a16="http://schemas.microsoft.com/office/drawing/2014/main" id="{6747F126-0D6A-C16E-7CF1-D7F3BE4E9BE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29101" y="1400783"/>
            <a:ext cx="9062619" cy="5603031"/>
          </a:xfrm>
          <a:prstGeom prst="rect">
            <a:avLst/>
          </a:prstGeom>
        </p:spPr>
      </p:pic>
    </p:spTree>
    <p:extLst>
      <p:ext uri="{BB962C8B-B14F-4D97-AF65-F5344CB8AC3E}">
        <p14:creationId xmlns:p14="http://schemas.microsoft.com/office/powerpoint/2010/main" val="15126309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B9C42-7F95-59E1-3444-17214D965FD8}"/>
              </a:ext>
            </a:extLst>
          </p:cNvPr>
          <p:cNvSpPr>
            <a:spLocks noGrp="1"/>
          </p:cNvSpPr>
          <p:nvPr>
            <p:ph type="title"/>
          </p:nvPr>
        </p:nvSpPr>
        <p:spPr/>
        <p:txBody>
          <a:bodyPr/>
          <a:lstStyle/>
          <a:p>
            <a:r>
              <a:rPr lang="en-US" dirty="0">
                <a:solidFill>
                  <a:srgbClr val="00ADD8"/>
                </a:solidFill>
              </a:rPr>
              <a:t>Deployment (Docker &amp; Kubernetes)</a:t>
            </a:r>
            <a:endParaRPr lang="en-IN" dirty="0"/>
          </a:p>
        </p:txBody>
      </p:sp>
      <p:sp>
        <p:nvSpPr>
          <p:cNvPr id="3" name="Content Placeholder 2">
            <a:extLst>
              <a:ext uri="{FF2B5EF4-FFF2-40B4-BE49-F238E27FC236}">
                <a16:creationId xmlns:a16="http://schemas.microsoft.com/office/drawing/2014/main" id="{E04B781A-15BE-18B3-F5A7-EEFD3C2764C7}"/>
              </a:ext>
            </a:extLst>
          </p:cNvPr>
          <p:cNvSpPr>
            <a:spLocks noGrp="1"/>
          </p:cNvSpPr>
          <p:nvPr>
            <p:ph idx="1"/>
          </p:nvPr>
        </p:nvSpPr>
        <p:spPr/>
        <p:txBody>
          <a:bodyPr/>
          <a:lstStyle/>
          <a:p>
            <a:r>
              <a:rPr lang="en-US" dirty="0"/>
              <a:t>Services are containerized using Docker to ensure consistency across environments. Kubernetes is used for orchestration, handling deployment, scaling, load balancing, and service discovery automatically.  microservices are stateless so they can be scaled easily and for database dedicated services like </a:t>
            </a:r>
            <a:r>
              <a:rPr lang="en-US" dirty="0" err="1"/>
              <a:t>rds</a:t>
            </a:r>
            <a:r>
              <a:rPr lang="en-US" dirty="0"/>
              <a:t> or similar in other cloud are preferred</a:t>
            </a:r>
          </a:p>
          <a:p>
            <a:r>
              <a:rPr lang="en-US" dirty="0"/>
              <a:t>Simply use compose to convert docker compose to k8s manifests and update is as per requirements. </a:t>
            </a:r>
          </a:p>
          <a:p>
            <a:r>
              <a:rPr lang="en-US" dirty="0"/>
              <a:t>Command = </a:t>
            </a:r>
            <a:r>
              <a:rPr lang="en-US" dirty="0" err="1"/>
              <a:t>kompose</a:t>
            </a:r>
            <a:r>
              <a:rPr lang="en-US" dirty="0"/>
              <a:t> -f .\docker-</a:t>
            </a:r>
            <a:r>
              <a:rPr lang="en-US" dirty="0" err="1"/>
              <a:t>compose.yml</a:t>
            </a:r>
            <a:r>
              <a:rPr lang="en-US" dirty="0"/>
              <a:t> convert</a:t>
            </a:r>
            <a:br>
              <a:rPr lang="en-US" dirty="0"/>
            </a:br>
            <a:endParaRPr lang="en-US" dirty="0"/>
          </a:p>
          <a:p>
            <a:endParaRPr lang="en-IN" dirty="0"/>
          </a:p>
        </p:txBody>
      </p:sp>
    </p:spTree>
    <p:extLst>
      <p:ext uri="{BB962C8B-B14F-4D97-AF65-F5344CB8AC3E}">
        <p14:creationId xmlns:p14="http://schemas.microsoft.com/office/powerpoint/2010/main" val="35487216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27872764-0BEA-5471-15E6-87447FD37FB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35448" y="19895"/>
            <a:ext cx="7647990" cy="6818209"/>
          </a:xfrm>
          <a:prstGeom prst="rect">
            <a:avLst/>
          </a:prstGeom>
        </p:spPr>
      </p:pic>
      <p:sp>
        <p:nvSpPr>
          <p:cNvPr id="12" name="Title 1">
            <a:extLst>
              <a:ext uri="{FF2B5EF4-FFF2-40B4-BE49-F238E27FC236}">
                <a16:creationId xmlns:a16="http://schemas.microsoft.com/office/drawing/2014/main" id="{80C5AC8E-7BCD-6D1A-64AB-740473C2C25B}"/>
              </a:ext>
            </a:extLst>
          </p:cNvPr>
          <p:cNvSpPr>
            <a:spLocks noGrp="1"/>
          </p:cNvSpPr>
          <p:nvPr>
            <p:ph type="title"/>
          </p:nvPr>
        </p:nvSpPr>
        <p:spPr>
          <a:xfrm>
            <a:off x="243191" y="2602487"/>
            <a:ext cx="3626796" cy="1325563"/>
          </a:xfrm>
        </p:spPr>
        <p:txBody>
          <a:bodyPr>
            <a:normAutofit fontScale="90000"/>
          </a:bodyPr>
          <a:lstStyle/>
          <a:p>
            <a:r>
              <a:rPr lang="en-US" dirty="0">
                <a:solidFill>
                  <a:srgbClr val="00ADD8"/>
                </a:solidFill>
              </a:rPr>
              <a:t>Deployment (Docker &amp; Kubernetes)</a:t>
            </a:r>
            <a:endParaRPr lang="en-IN" dirty="0"/>
          </a:p>
        </p:txBody>
      </p:sp>
    </p:spTree>
    <p:extLst>
      <p:ext uri="{BB962C8B-B14F-4D97-AF65-F5344CB8AC3E}">
        <p14:creationId xmlns:p14="http://schemas.microsoft.com/office/powerpoint/2010/main" val="42011094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1F489-62A1-B01B-22F5-7F5E9E3BBFEF}"/>
              </a:ext>
            </a:extLst>
          </p:cNvPr>
          <p:cNvSpPr>
            <a:spLocks noGrp="1"/>
          </p:cNvSpPr>
          <p:nvPr>
            <p:ph type="title"/>
          </p:nvPr>
        </p:nvSpPr>
        <p:spPr/>
        <p:txBody>
          <a:bodyPr/>
          <a:lstStyle/>
          <a:p>
            <a:r>
              <a:rPr lang="en-US" dirty="0">
                <a:solidFill>
                  <a:srgbClr val="00ADD8"/>
                </a:solidFill>
              </a:rPr>
              <a:t>Monitoring and Security</a:t>
            </a:r>
            <a:endParaRPr lang="en-IN" dirty="0"/>
          </a:p>
        </p:txBody>
      </p:sp>
      <p:sp>
        <p:nvSpPr>
          <p:cNvPr id="3" name="Content Placeholder 2">
            <a:extLst>
              <a:ext uri="{FF2B5EF4-FFF2-40B4-BE49-F238E27FC236}">
                <a16:creationId xmlns:a16="http://schemas.microsoft.com/office/drawing/2014/main" id="{B4E5698C-993E-E87E-5766-29F440D68287}"/>
              </a:ext>
            </a:extLst>
          </p:cNvPr>
          <p:cNvSpPr>
            <a:spLocks noGrp="1"/>
          </p:cNvSpPr>
          <p:nvPr>
            <p:ph idx="1"/>
          </p:nvPr>
        </p:nvSpPr>
        <p:spPr/>
        <p:txBody>
          <a:bodyPr/>
          <a:lstStyle/>
          <a:p>
            <a:r>
              <a:rPr lang="en-US" dirty="0"/>
              <a:t>Monitoring tools track system health, logs, and performance metrics and tracing. Security includes authentication (JWT/OAuth), HTTPS communication, API rate limiting, and protection against attacks. Centralized logging helps in debugging. </a:t>
            </a:r>
          </a:p>
          <a:p>
            <a:pPr marL="0" indent="0">
              <a:buNone/>
            </a:pPr>
            <a:endParaRPr lang="en-US" dirty="0"/>
          </a:p>
          <a:p>
            <a:endParaRPr lang="en-IN" dirty="0"/>
          </a:p>
        </p:txBody>
      </p:sp>
    </p:spTree>
    <p:extLst>
      <p:ext uri="{BB962C8B-B14F-4D97-AF65-F5344CB8AC3E}">
        <p14:creationId xmlns:p14="http://schemas.microsoft.com/office/powerpoint/2010/main" val="302029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2AF50F4-B89B-B619-4F99-380D629A68E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89207" y="1261790"/>
            <a:ext cx="6213586" cy="5596210"/>
          </a:xfrm>
          <a:prstGeom prst="rect">
            <a:avLst/>
          </a:prstGeom>
        </p:spPr>
      </p:pic>
      <p:sp>
        <p:nvSpPr>
          <p:cNvPr id="6" name="Title 1">
            <a:extLst>
              <a:ext uri="{FF2B5EF4-FFF2-40B4-BE49-F238E27FC236}">
                <a16:creationId xmlns:a16="http://schemas.microsoft.com/office/drawing/2014/main" id="{F56FEB35-096F-E283-3D65-879975D06866}"/>
              </a:ext>
            </a:extLst>
          </p:cNvPr>
          <p:cNvSpPr>
            <a:spLocks noGrp="1"/>
          </p:cNvSpPr>
          <p:nvPr>
            <p:ph type="title"/>
          </p:nvPr>
        </p:nvSpPr>
        <p:spPr>
          <a:xfrm>
            <a:off x="838200" y="365125"/>
            <a:ext cx="10515600" cy="1325563"/>
          </a:xfrm>
        </p:spPr>
        <p:txBody>
          <a:bodyPr/>
          <a:lstStyle/>
          <a:p>
            <a:r>
              <a:rPr lang="en-US" dirty="0">
                <a:solidFill>
                  <a:srgbClr val="00ADD8"/>
                </a:solidFill>
              </a:rPr>
              <a:t>Monitoring and Security</a:t>
            </a:r>
            <a:endParaRPr lang="en-IN" dirty="0"/>
          </a:p>
        </p:txBody>
      </p:sp>
    </p:spTree>
    <p:extLst>
      <p:ext uri="{BB962C8B-B14F-4D97-AF65-F5344CB8AC3E}">
        <p14:creationId xmlns:p14="http://schemas.microsoft.com/office/powerpoint/2010/main" val="28307715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2AA91-DD99-4A12-0EA4-CF9B0290D956}"/>
              </a:ext>
            </a:extLst>
          </p:cNvPr>
          <p:cNvSpPr>
            <a:spLocks noGrp="1"/>
          </p:cNvSpPr>
          <p:nvPr>
            <p:ph type="title"/>
          </p:nvPr>
        </p:nvSpPr>
        <p:spPr/>
        <p:txBody>
          <a:bodyPr/>
          <a:lstStyle/>
          <a:p>
            <a:r>
              <a:rPr lang="en-US" dirty="0">
                <a:solidFill>
                  <a:srgbClr val="00ADD8"/>
                </a:solidFill>
              </a:rPr>
              <a:t>Conclusion</a:t>
            </a:r>
            <a:endParaRPr lang="en-IN" dirty="0"/>
          </a:p>
        </p:txBody>
      </p:sp>
      <p:sp>
        <p:nvSpPr>
          <p:cNvPr id="3" name="Content Placeholder 2">
            <a:extLst>
              <a:ext uri="{FF2B5EF4-FFF2-40B4-BE49-F238E27FC236}">
                <a16:creationId xmlns:a16="http://schemas.microsoft.com/office/drawing/2014/main" id="{AB91263C-6F57-EED6-2B15-C44046C000FF}"/>
              </a:ext>
            </a:extLst>
          </p:cNvPr>
          <p:cNvSpPr>
            <a:spLocks noGrp="1"/>
          </p:cNvSpPr>
          <p:nvPr>
            <p:ph idx="1"/>
          </p:nvPr>
        </p:nvSpPr>
        <p:spPr/>
        <p:txBody>
          <a:bodyPr/>
          <a:lstStyle/>
          <a:p>
            <a:r>
              <a:rPr lang="en-US" dirty="0"/>
              <a:t>Microservices with an API Gateway provide a scalable and flexible architecture for e-commerce systems. Go enables efficient service development, while tools like Docker and Kubernetes simplify deployment. Despite added complexity, this approach is well-suited for modern large-scale applications.</a:t>
            </a:r>
          </a:p>
          <a:p>
            <a:endParaRPr lang="en-IN" dirty="0"/>
          </a:p>
        </p:txBody>
      </p:sp>
    </p:spTree>
    <p:extLst>
      <p:ext uri="{BB962C8B-B14F-4D97-AF65-F5344CB8AC3E}">
        <p14:creationId xmlns:p14="http://schemas.microsoft.com/office/powerpoint/2010/main" val="26561245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2716C-2FD6-5EF9-7127-DF9812A8753D}"/>
              </a:ext>
            </a:extLst>
          </p:cNvPr>
          <p:cNvSpPr>
            <a:spLocks noGrp="1"/>
          </p:cNvSpPr>
          <p:nvPr>
            <p:ph type="title"/>
          </p:nvPr>
        </p:nvSpPr>
        <p:spPr/>
        <p:txBody>
          <a:bodyPr/>
          <a:lstStyle/>
          <a:p>
            <a:r>
              <a:rPr lang="en-US" dirty="0">
                <a:solidFill>
                  <a:srgbClr val="00ADD8"/>
                </a:solidFill>
              </a:rPr>
              <a:t>Project </a:t>
            </a:r>
            <a:r>
              <a:rPr lang="en-US" dirty="0" err="1">
                <a:solidFill>
                  <a:srgbClr val="00ADD8"/>
                </a:solidFill>
              </a:rPr>
              <a:t>Github</a:t>
            </a:r>
            <a:r>
              <a:rPr lang="en-US" dirty="0">
                <a:solidFill>
                  <a:srgbClr val="00ADD8"/>
                </a:solidFill>
              </a:rPr>
              <a:t> Link</a:t>
            </a:r>
            <a:endParaRPr lang="en-IN" dirty="0"/>
          </a:p>
        </p:txBody>
      </p:sp>
      <p:sp>
        <p:nvSpPr>
          <p:cNvPr id="3" name="Content Placeholder 2">
            <a:extLst>
              <a:ext uri="{FF2B5EF4-FFF2-40B4-BE49-F238E27FC236}">
                <a16:creationId xmlns:a16="http://schemas.microsoft.com/office/drawing/2014/main" id="{6C28F822-7728-C5D7-B665-77D674623FA1}"/>
              </a:ext>
            </a:extLst>
          </p:cNvPr>
          <p:cNvSpPr>
            <a:spLocks noGrp="1"/>
          </p:cNvSpPr>
          <p:nvPr>
            <p:ph idx="1"/>
          </p:nvPr>
        </p:nvSpPr>
        <p:spPr/>
        <p:txBody>
          <a:bodyPr/>
          <a:lstStyle/>
          <a:p>
            <a:r>
              <a:rPr lang="en-IN" dirty="0"/>
              <a:t>https://github.com/subpxl/microservices-for-beginners</a:t>
            </a:r>
          </a:p>
        </p:txBody>
      </p:sp>
    </p:spTree>
    <p:extLst>
      <p:ext uri="{BB962C8B-B14F-4D97-AF65-F5344CB8AC3E}">
        <p14:creationId xmlns:p14="http://schemas.microsoft.com/office/powerpoint/2010/main" val="19303660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A6F2D34-36F4-090B-82AF-3C7AB820BBB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078135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TotalTime>
  <Words>718</Words>
  <Application>Microsoft Office PowerPoint</Application>
  <PresentationFormat>Widescreen</PresentationFormat>
  <Paragraphs>52</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PowerPoint Presentation</vt:lpstr>
      <vt:lpstr>Index</vt:lpstr>
      <vt:lpstr>Microservice Architecture </vt:lpstr>
      <vt:lpstr>Overall Architecture </vt:lpstr>
      <vt:lpstr>Microservice Architecture </vt:lpstr>
      <vt:lpstr>Microservice Core Services (User, Product, Order, Notification)  </vt:lpstr>
      <vt:lpstr>Implementing Microservices in Go</vt:lpstr>
      <vt:lpstr>PowerPoint Presentation</vt:lpstr>
      <vt:lpstr>API Gateway: Concept and Role</vt:lpstr>
      <vt:lpstr>PowerPoint Presentation</vt:lpstr>
      <vt:lpstr>Service Communication (REST/gRPC)</vt:lpstr>
      <vt:lpstr>Service Communication Message Queues</vt:lpstr>
      <vt:lpstr>Service Communication Message Queues</vt:lpstr>
      <vt:lpstr>Data Management per Service</vt:lpstr>
      <vt:lpstr>Data Management per Service</vt:lpstr>
      <vt:lpstr>Deployment (Docker &amp; Kubernetes)</vt:lpstr>
      <vt:lpstr>Deployment (Docker &amp; Kubernetes)</vt:lpstr>
      <vt:lpstr>Monitoring and Security</vt:lpstr>
      <vt:lpstr>Monitoring and Security</vt:lpstr>
      <vt:lpstr>Conclusion</vt:lpstr>
      <vt:lpstr>Project Github Link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shubham panchal</dc:creator>
  <cp:lastModifiedBy>shubham panchal</cp:lastModifiedBy>
  <cp:revision>7</cp:revision>
  <dcterms:created xsi:type="dcterms:W3CDTF">2026-04-18T06:02:35Z</dcterms:created>
  <dcterms:modified xsi:type="dcterms:W3CDTF">2026-04-24T08:47:30Z</dcterms:modified>
</cp:coreProperties>
</file>